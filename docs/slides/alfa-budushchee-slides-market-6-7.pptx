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EF3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АЛЬФА · БУДУЩЕЕ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10972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Arial"/>
              </a:rPr>
              <a:t>1/4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11111"/>
                </a:solidFill>
                <a:latin typeface="Arial"/>
              </a:rPr>
              <a:t>Рынок ·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280160"/>
            <a:ext cx="265176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F3124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574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11111"/>
                </a:solidFill>
                <a:latin typeface="Arial"/>
              </a:rPr>
              <a:t>Дешевле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68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</a:rPr>
              <a:t>ETF &gt; активные фонды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280160"/>
            <a:ext cx="265176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5087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F3124"/>
                </a:solidFill>
                <a:latin typeface="Arial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0574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11111"/>
                </a:solidFill>
                <a:latin typeface="Arial"/>
              </a:rPr>
              <a:t>Шире доступ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468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</a:rPr>
              <a:t>Private → retail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1280160"/>
            <a:ext cx="265176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5087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F3124"/>
                </a:solidFill>
                <a:latin typeface="Arial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0574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11111"/>
                </a:solidFill>
                <a:latin typeface="Arial"/>
              </a:rPr>
              <a:t>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468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</a:rPr>
              <a:t>Персонализация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69680" y="1280160"/>
            <a:ext cx="265176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0" y="15087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F3124"/>
                </a:solidFill>
                <a:latin typeface="Arial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20574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11111"/>
                </a:solidFill>
                <a:latin typeface="Arial"/>
              </a:rPr>
              <a:t>CX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468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</a:rPr>
              <a:t>Дистрибуция &gt; продукт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3383280"/>
            <a:ext cx="3611880" cy="1371600"/>
          </a:xfrm>
          <a:prstGeom prst="roundRect">
            <a:avLst>
              <a:gd name="adj" fmla="val 8000"/>
            </a:avLst>
          </a:prstGeom>
          <a:solidFill>
            <a:srgbClr val="F6F6F6"/>
          </a:solidFill>
          <a:ln w="952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3703320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11111"/>
                </a:solidFill>
                <a:latin typeface="Arial"/>
              </a:rPr>
              <a:t>$943B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251960"/>
            <a:ext cx="3611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Arial"/>
              </a:rPr>
              <a:t>model portfolios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60520" y="3383280"/>
            <a:ext cx="3611880" cy="1371600"/>
          </a:xfrm>
          <a:prstGeom prst="roundRect">
            <a:avLst>
              <a:gd name="adj" fmla="val 8000"/>
            </a:avLst>
          </a:prstGeom>
          <a:solidFill>
            <a:srgbClr val="F6F6F6"/>
          </a:solidFill>
          <a:ln w="952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60520" y="3703320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11111"/>
                </a:solidFill>
                <a:latin typeface="Arial"/>
              </a:rPr>
              <a:t>$308B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60520" y="4251960"/>
            <a:ext cx="3611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Arial"/>
              </a:rPr>
              <a:t>BlackRock · ~⅓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55280" y="3383280"/>
            <a:ext cx="3611880" cy="1371600"/>
          </a:xfrm>
          <a:prstGeom prst="roundRect">
            <a:avLst>
              <a:gd name="adj" fmla="val 8000"/>
            </a:avLst>
          </a:prstGeom>
          <a:solidFill>
            <a:srgbClr val="FFF5F4"/>
          </a:solidFill>
          <a:ln w="952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55280" y="3703320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3124"/>
                </a:solidFill>
                <a:latin typeface="Arial"/>
              </a:rPr>
              <a:t>→ CX+AI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80" y="4251960"/>
            <a:ext cx="3611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Arial"/>
              </a:rPr>
              <a:t>где конкурировать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51206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11111"/>
                </a:solidFill>
                <a:latin typeface="Arial"/>
              </a:rPr>
              <a:t>Выигрывает не продукт, а путь клиента + объяснение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53796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</a:rPr>
              <a:t>Фича банка · не стартап · авг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EF3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АЛЬФА · БУДУЩЕЕ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10972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Arial"/>
              </a:rPr>
              <a:t>2/4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11111"/>
                </a:solidFill>
                <a:latin typeface="Arial"/>
              </a:rPr>
              <a:t>Конкуренты → наша ниша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234440"/>
            <a:ext cx="530352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Arial"/>
              </a:rPr>
              <a:t>Где сильные брокеры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74519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Arial"/>
              </a:rPr>
              <a:t>Каталог / терминал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60" y="1920239"/>
            <a:ext cx="2194560" cy="182880"/>
          </a:xfrm>
          <a:prstGeom prst="roundRect">
            <a:avLst>
              <a:gd name="adj" fmla="val 8000"/>
            </a:avLst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108960" y="1920239"/>
            <a:ext cx="2194560" cy="182880"/>
          </a:xfrm>
          <a:prstGeom prst="roundRect">
            <a:avLst>
              <a:gd name="adj" fmla="val 8000"/>
            </a:avLst>
          </a:prstGeom>
          <a:solidFill>
            <a:srgbClr val="EF3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377439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Arial"/>
              </a:rPr>
              <a:t>Обучение рынку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08960" y="2423159"/>
            <a:ext cx="2194560" cy="182880"/>
          </a:xfrm>
          <a:prstGeom prst="roundRect">
            <a:avLst>
              <a:gd name="adj" fmla="val 8000"/>
            </a:avLst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108960" y="2423159"/>
            <a:ext cx="1755648" cy="182880"/>
          </a:xfrm>
          <a:prstGeom prst="roundRect">
            <a:avLst>
              <a:gd name="adj" fmla="val 8000"/>
            </a:avLst>
          </a:prstGeom>
          <a:solidFill>
            <a:srgbClr val="EF3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880359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Arial"/>
              </a:rPr>
              <a:t>Робот-портфель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08960" y="2926079"/>
            <a:ext cx="2194560" cy="182880"/>
          </a:xfrm>
          <a:prstGeom prst="roundRect">
            <a:avLst>
              <a:gd name="adj" fmla="val 8000"/>
            </a:avLst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108960" y="2926079"/>
            <a:ext cx="1755648" cy="182880"/>
          </a:xfrm>
          <a:prstGeom prst="roundRect">
            <a:avLst>
              <a:gd name="adj" fmla="val 8000"/>
            </a:avLst>
          </a:prstGeom>
          <a:solidFill>
            <a:srgbClr val="EF3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383279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Arial"/>
              </a:rPr>
              <a:t>Первый шаг 18–26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08960" y="3428999"/>
            <a:ext cx="2194560" cy="182880"/>
          </a:xfrm>
          <a:prstGeom prst="roundRect">
            <a:avLst>
              <a:gd name="adj" fmla="val 8000"/>
            </a:avLst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108960" y="3428999"/>
            <a:ext cx="877824" cy="182880"/>
          </a:xfrm>
          <a:prstGeom prst="roundRect">
            <a:avLst>
              <a:gd name="adj" fmla="val 8000"/>
            </a:avLst>
          </a:prstGeom>
          <a:solidFill>
            <a:srgbClr val="EF3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886199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Arial"/>
              </a:rPr>
              <a:t>Банк → взнос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08960" y="3931919"/>
            <a:ext cx="2194560" cy="182880"/>
          </a:xfrm>
          <a:prstGeom prst="roundRect">
            <a:avLst>
              <a:gd name="adj" fmla="val 8000"/>
            </a:avLst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108960" y="3931919"/>
            <a:ext cx="877824" cy="182880"/>
          </a:xfrm>
          <a:prstGeom prst="roundRect">
            <a:avLst>
              <a:gd name="adj" fmla="val 8000"/>
            </a:avLst>
          </a:prstGeom>
          <a:solidFill>
            <a:srgbClr val="EF3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389119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Arial"/>
              </a:rPr>
              <a:t>ИИ объясняет выбор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108960" y="4434839"/>
            <a:ext cx="2194560" cy="182880"/>
          </a:xfrm>
          <a:prstGeom prst="roundRect">
            <a:avLst>
              <a:gd name="adj" fmla="val 8000"/>
            </a:avLst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108960" y="4434839"/>
            <a:ext cx="438912" cy="182880"/>
          </a:xfrm>
          <a:prstGeom prst="roundRect">
            <a:avLst>
              <a:gd name="adj" fmla="val 8000"/>
            </a:avLst>
          </a:prstGeom>
          <a:solidFill>
            <a:srgbClr val="EF3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943600" y="1234440"/>
            <a:ext cx="5852160" cy="4206240"/>
          </a:xfrm>
          <a:prstGeom prst="roundRect">
            <a:avLst>
              <a:gd name="adj" fmla="val 8000"/>
            </a:avLst>
          </a:prstGeom>
          <a:solidFill>
            <a:srgbClr val="FFF5F4"/>
          </a:solidFill>
          <a:ln w="952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0" y="1371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F3124"/>
                </a:solidFill>
                <a:latin typeface="Arial"/>
              </a:rPr>
              <a:t>Белое пятно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75120" y="1920240"/>
            <a:ext cx="438912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0" y="20116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11111"/>
                </a:solidFill>
                <a:latin typeface="Arial"/>
              </a:rPr>
              <a:t>1.  кэшбэк / остаток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239572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F3124"/>
                </a:solidFill>
                <a:latin typeface="Arial"/>
              </a:rPr>
              <a:t>↓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75120" y="2697480"/>
            <a:ext cx="438912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75120" y="27889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11111"/>
                </a:solidFill>
                <a:latin typeface="Arial"/>
              </a:rPr>
              <a:t>2.  цель + квиз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317296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F3124"/>
                </a:solidFill>
                <a:latin typeface="Arial"/>
              </a:rPr>
              <a:t>↓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675120" y="3474720"/>
            <a:ext cx="438912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5120" y="35661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11111"/>
                </a:solidFill>
                <a:latin typeface="Arial"/>
              </a:rPr>
              <a:t>3.  LQDT + «почему»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0" y="395020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F3124"/>
                </a:solidFill>
                <a:latin typeface="Arial"/>
              </a:rPr>
              <a:t>↓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675120" y="4251960"/>
            <a:ext cx="438912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75120" y="43434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11111"/>
                </a:solidFill>
                <a:latin typeface="Arial"/>
              </a:rPr>
              <a:t>4.  взнос от 100 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56235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11111"/>
                </a:solidFill>
                <a:latin typeface="Arial"/>
              </a:rPr>
              <a:t>Они продают доступ к рынку · мы — безопасный первый шаг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53796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</a:rPr>
              <a:t>Фича банка · не стартап · авг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EF3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АЛЬФА · БУДУЩЕЕ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10972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Arial"/>
              </a:rPr>
              <a:t>3/4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11111"/>
                </a:solidFill>
                <a:latin typeface="Arial"/>
              </a:rPr>
              <a:t>6 · Персонализация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32407" y="1371600"/>
            <a:ext cx="2560320" cy="2377440"/>
          </a:xfrm>
          <a:prstGeom prst="roundRect">
            <a:avLst>
              <a:gd name="adj" fmla="val 8000"/>
            </a:avLst>
          </a:prstGeom>
          <a:solidFill>
            <a:srgbClr val="F6F6F6"/>
          </a:solidFill>
          <a:ln w="952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32407" y="16002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F3124"/>
                </a:solidFill>
                <a:latin typeface="Arial"/>
              </a:rPr>
              <a:t>ДАННЫЕ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32407" y="21488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11111"/>
                </a:solidFill>
                <a:latin typeface="Arial"/>
              </a:rPr>
              <a:t>остаток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32407" y="25146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11111"/>
                </a:solidFill>
                <a:latin typeface="Arial"/>
              </a:rPr>
              <a:t>кэшбэк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2407" y="28803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11111"/>
                </a:solidFill>
                <a:latin typeface="Arial"/>
              </a:rPr>
              <a:t>цель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29887" y="23317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3124"/>
                </a:solidFill>
                <a:latin typeface="Arial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15687" y="1371600"/>
            <a:ext cx="2560320" cy="2377440"/>
          </a:xfrm>
          <a:prstGeom prst="roundRect">
            <a:avLst>
              <a:gd name="adj" fmla="val 8000"/>
            </a:avLst>
          </a:prstGeom>
          <a:solidFill>
            <a:srgbClr val="FFF5F4"/>
          </a:solidFill>
          <a:ln w="952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15687" y="16002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F3124"/>
                </a:solidFill>
                <a:latin typeface="Arial"/>
              </a:rPr>
              <a:t>ПРАВИЛА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15687" y="21488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11111"/>
                </a:solidFill>
                <a:latin typeface="Arial"/>
              </a:rPr>
              <a:t>18+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15687" y="25146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11111"/>
                </a:solidFill>
                <a:latin typeface="Arial"/>
              </a:rPr>
              <a:t>whitelist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15687" y="28803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11111"/>
                </a:solidFill>
                <a:latin typeface="Arial"/>
              </a:rPr>
              <a:t>conservative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13167" y="23317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3124"/>
                </a:solidFill>
                <a:latin typeface="Arial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98967" y="1371600"/>
            <a:ext cx="2560320" cy="2377440"/>
          </a:xfrm>
          <a:prstGeom prst="roundRect">
            <a:avLst>
              <a:gd name="adj" fmla="val 8000"/>
            </a:avLst>
          </a:prstGeom>
          <a:solidFill>
            <a:srgbClr val="F6F6F6"/>
          </a:solidFill>
          <a:ln w="952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98967" y="16002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F3124"/>
                </a:solidFill>
                <a:latin typeface="Arial"/>
              </a:rPr>
              <a:t>LLM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8967" y="21488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11111"/>
                </a:solidFill>
                <a:latin typeface="Arial"/>
              </a:rPr>
              <a:t>только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98967" y="25146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11111"/>
                </a:solidFill>
                <a:latin typeface="Arial"/>
              </a:rPr>
              <a:t>«почему»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98967" y="28803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11111"/>
                </a:solidFill>
                <a:latin typeface="Arial"/>
              </a:rPr>
              <a:t>+ fallback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00400" y="4114800"/>
            <a:ext cx="5760720" cy="640080"/>
          </a:xfrm>
          <a:prstGeom prst="roundRect">
            <a:avLst>
              <a:gd name="adj" fmla="val 8000"/>
            </a:avLst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0" y="420624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→  Product Card: LQDT + 2 альтернативы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97280" y="5029200"/>
            <a:ext cx="320040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51023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F3124"/>
                </a:solidFill>
                <a:latin typeface="Arial"/>
              </a:rPr>
              <a:t>✕  не выбирает тикер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0" y="5029200"/>
            <a:ext cx="320040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0" y="51023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F3124"/>
                </a:solidFill>
                <a:latin typeface="Arial"/>
              </a:rPr>
              <a:t>✕  не обещает 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0" y="5029200"/>
            <a:ext cx="320040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0" y="51023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F3124"/>
                </a:solidFill>
                <a:latin typeface="Arial"/>
              </a:rPr>
              <a:t>✕  не ставит ордер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53796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</a:rPr>
              <a:t>Фича банка · не стартап · авг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EF3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АЛЬФА · БУДУЩЕЕ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10972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Arial"/>
              </a:rPr>
              <a:t>4/4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11111"/>
                </a:solidFill>
                <a:latin typeface="Arial"/>
              </a:rPr>
              <a:t>7 · Финмодель фичи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F3124"/>
                </a:solidFill>
                <a:latin typeface="Arial"/>
              </a:rPr>
              <a:t>700 ₽ чек ≠ бизнес   ·   кейс = 3 слоя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60020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FFF5F4"/>
          </a:solidFill>
          <a:ln w="952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783080"/>
            <a:ext cx="3611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666666"/>
                </a:solidFill>
                <a:latin typeface="Arial"/>
              </a:rPr>
              <a:t>ЛИФТ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240280"/>
            <a:ext cx="3611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EF3124"/>
                </a:solidFill>
                <a:latin typeface="Arial"/>
              </a:rPr>
              <a:t>11,1%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017520"/>
            <a:ext cx="3611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11111"/>
                </a:solidFill>
                <a:latin typeface="Arial"/>
              </a:rPr>
              <a:t>+10% счетов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160020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1783080"/>
            <a:ext cx="3611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666666"/>
                </a:solidFill>
                <a:latin typeface="Arial"/>
              </a:rPr>
              <a:t>MIX УК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240280"/>
            <a:ext cx="3611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EF3124"/>
                </a:solidFill>
                <a:latin typeface="Arial"/>
              </a:rPr>
              <a:t>30%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3017520"/>
            <a:ext cx="3611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11111"/>
                </a:solidFill>
                <a:latin typeface="Arial"/>
              </a:rPr>
              <a:t>AKMM после LQDT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0020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1783080"/>
            <a:ext cx="3611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666666"/>
                </a:solidFill>
                <a:latin typeface="Arial"/>
              </a:rPr>
              <a:t>PRIMARY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240280"/>
            <a:ext cx="3611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EF3124"/>
                </a:solidFill>
                <a:latin typeface="Arial"/>
              </a:rPr>
              <a:t>94 млн 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3017520"/>
            <a:ext cx="3611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11111"/>
                </a:solidFill>
                <a:latin typeface="Arial"/>
              </a:rPr>
              <a:t>удержание 3г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3931920"/>
            <a:ext cx="1828800" cy="640080"/>
          </a:xfrm>
          <a:prstGeom prst="roundRect">
            <a:avLst>
              <a:gd name="adj" fmla="val 8000"/>
            </a:avLst>
          </a:prstGeom>
          <a:solidFill>
            <a:srgbClr val="F6F6F6"/>
          </a:solidFill>
          <a:ln w="952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404164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11111"/>
                </a:solidFill>
                <a:latin typeface="Arial"/>
              </a:rPr>
              <a:t>цель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402336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EF3124"/>
                </a:solidFill>
                <a:latin typeface="Arial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697480" y="3931920"/>
            <a:ext cx="1828800" cy="640080"/>
          </a:xfrm>
          <a:prstGeom prst="roundRect">
            <a:avLst>
              <a:gd name="adj" fmla="val 8000"/>
            </a:avLst>
          </a:prstGeom>
          <a:solidFill>
            <a:srgbClr val="F6F6F6"/>
          </a:solidFill>
          <a:ln w="952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97480" y="404164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11111"/>
                </a:solidFill>
                <a:latin typeface="Arial"/>
              </a:rPr>
              <a:t>квиз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402336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EF3124"/>
                </a:solidFill>
                <a:latin typeface="Arial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0" y="3931920"/>
            <a:ext cx="1828800" cy="640080"/>
          </a:xfrm>
          <a:prstGeom prst="roundRect">
            <a:avLst>
              <a:gd name="adj" fmla="val 8000"/>
            </a:avLst>
          </a:prstGeom>
          <a:solidFill>
            <a:srgbClr val="EF3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0" y="404164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LQDT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402336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EF3124"/>
                </a:solidFill>
                <a:latin typeface="Arial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60920" y="3931920"/>
            <a:ext cx="1828800" cy="640080"/>
          </a:xfrm>
          <a:prstGeom prst="roundRect">
            <a:avLst>
              <a:gd name="adj" fmla="val 8000"/>
            </a:avLst>
          </a:prstGeom>
          <a:solidFill>
            <a:srgbClr val="EF3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60920" y="404164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AKMM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5760" y="4846320"/>
            <a:ext cx="3611880" cy="914400"/>
          </a:xfrm>
          <a:prstGeom prst="roundRect">
            <a:avLst>
              <a:gd name="adj" fmla="val 8000"/>
            </a:avLst>
          </a:prstGeom>
          <a:solidFill>
            <a:srgbClr val="F6F6F6"/>
          </a:solidFill>
          <a:ln w="952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4937760"/>
            <a:ext cx="3611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11111"/>
                </a:solidFill>
                <a:latin typeface="Arial"/>
              </a:rPr>
              <a:t>3,36 млн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5349240"/>
            <a:ext cx="3611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Arial"/>
              </a:rPr>
              <a:t>working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06240" y="4846320"/>
            <a:ext cx="3611880" cy="914400"/>
          </a:xfrm>
          <a:prstGeom prst="roundRect">
            <a:avLst>
              <a:gd name="adj" fmla="val 8000"/>
            </a:avLst>
          </a:prstGeom>
          <a:solidFill>
            <a:srgbClr val="F6F6F6"/>
          </a:solidFill>
          <a:ln w="952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06240" y="4937760"/>
            <a:ext cx="3611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11111"/>
                </a:solidFill>
                <a:latin typeface="Arial"/>
              </a:rPr>
              <a:t>18,7k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06240" y="5349240"/>
            <a:ext cx="3611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Arial"/>
              </a:rPr>
              <a:t>взносы Y1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46720" y="4846320"/>
            <a:ext cx="3611880" cy="914400"/>
          </a:xfrm>
          <a:prstGeom prst="roundRect">
            <a:avLst>
              <a:gd name="adj" fmla="val 8000"/>
            </a:avLst>
          </a:prstGeom>
          <a:solidFill>
            <a:srgbClr val="F6F6F6"/>
          </a:solidFill>
          <a:ln w="952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46720" y="4937760"/>
            <a:ext cx="3611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11111"/>
                </a:solidFill>
                <a:latin typeface="Arial"/>
              </a:rPr>
              <a:t>781 млн ₽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46720" y="5349240"/>
            <a:ext cx="3611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Arial"/>
              </a:rPr>
              <a:t>AUM Y3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653796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</a:rPr>
              <a:t>Фича банка · не стартап · авг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